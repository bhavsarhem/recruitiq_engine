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recruitiq-engine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1B4B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914400" cy="914400"/>
          </a:xfrm>
          <a:prstGeom prst="rect">
            <a:avLst>
              <a:gd name="adj" fmla="val 15000"/>
            </a:avLst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46304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RecruitIQ Engine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Candidate Discovery, Ranking &amp; Security Auditing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Redrob India Data &amp; AI Hackathon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1645920" cy="365760"/>
          </a:xfrm>
          <a:prstGeom prst="rect">
            <a:avLst>
              <a:gd name="adj" fmla="val 50000"/>
            </a:avLst>
          </a:prstGeom>
          <a:solidFill>
            <a:srgbClr val="0B0F1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100K Candidates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21408" y="3657600"/>
            <a:ext cx="1645920" cy="365760"/>
          </a:xfrm>
          <a:prstGeom prst="rect">
            <a:avLst>
              <a:gd name="adj" fmla="val 50000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92.6s Runtime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77056" y="3657600"/>
            <a:ext cx="1645920" cy="365760"/>
          </a:xfrm>
          <a:prstGeom prst="rect">
            <a:avLst>
              <a:gd name="adj" fmla="val 50000"/>
            </a:avLst>
          </a:prstGeom>
          <a:solidFill>
            <a:srgbClr val="0B0F19"/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6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 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32704" y="3657600"/>
            <a:ext cx="1645920" cy="365760"/>
          </a:xfrm>
          <a:prstGeom prst="rect">
            <a:avLst>
              <a:gd name="adj" fmla="val 50000"/>
            </a:avLst>
          </a:prstGeom>
          <a:solidFill>
            <a:srgbClr val="0B0F1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2704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Only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88352" y="3657600"/>
            <a:ext cx="1645920" cy="365760"/>
          </a:xfrm>
          <a:prstGeom prst="rect">
            <a:avLst>
              <a:gd name="adj" fmla="val 50000"/>
            </a:avLst>
          </a:prstGeom>
          <a:solidFill>
            <a:srgbClr val="0B0F1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88352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Deployed</a:t>
            </a:r>
            <a:endParaRPr lang="en-US" sz="1000" dirty="0"/>
          </a:p>
        </p:txBody>
      </p:sp>
      <p:sp>
        <p:nvSpPr>
          <p:cNvPr id="20" name="Text 18">
            <a:hlinkClick r:id="rId1" tooltip=""/>
          </p:cNvPr>
          <p:cNvSpPr/>
          <p:nvPr/>
        </p:nvSpPr>
        <p:spPr>
          <a:xfrm>
            <a:off x="365760" y="5943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https://recruitiq-engine.vercel.app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1B4B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😤 The Resume Screening Crisis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current ATS systems fail technical recruiting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Overload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Recruiters receive thousands of applications per senior role — human attention is diluted.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Standard ATS keyword matching rewards quantity over quality.</a:t>
            </a:r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Fraud &amp; Honeypots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Fraudulent profiles claim impossible experience (e.g. "15 years of React" — React launched 2013).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Skill stuffing: copy-pasting JD requirements as invisible skills in resumes.</a:t>
            </a:r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Objective Scoring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No standardized weighting of behavioral signals (response rates, availability).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Subjective recruiter bias creates inconsistent rankings across equally qualified candidates.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1B4B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The RecruitIQ Solution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Three-phase pipeline: Offline Training → Online Ranking → Interactive UI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560320" cy="3474720"/>
          </a:xfrm>
          <a:prstGeom prst="rect">
            <a:avLst>
              <a:gd name="adj" fmla="val 4286"/>
            </a:avLst>
          </a:prstGeom>
          <a:solidFill>
            <a:srgbClr val="0B0F1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Lab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engineering,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weak label generation,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LightGBM training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560320" cy="3474720"/>
          </a:xfrm>
          <a:prstGeom prst="rect">
            <a:avLst>
              <a:gd name="adj" fmla="val 4286"/>
            </a:avLst>
          </a:prstGeom>
          <a:solidFill>
            <a:srgbClr val="0B0F1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Ranker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24231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JSONL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Honeypot Gate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47-feature scoring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560320" cy="3474720"/>
          </a:xfrm>
          <a:prstGeom prst="rect">
            <a:avLst>
              <a:gd name="adj" fmla="val 4286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UI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4231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Vite/React dashboard,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leaderboard, radar sweep,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export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6F1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80644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6F1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1B4B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Results at a Glance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hackathon constraints satisfied with significant margin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" y="1828800"/>
            <a:ext cx="1645920" cy="1645920"/>
          </a:xfrm>
          <a:prstGeom prst="rect">
            <a:avLst>
              <a:gd name="adj" fmla="val 5556"/>
            </a:avLst>
          </a:prstGeom>
          <a:solidFill>
            <a:srgbClr val="0B0F19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" y="20116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100,000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Candidates Processed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1828800"/>
            <a:ext cx="1645920" cy="1645920"/>
          </a:xfrm>
          <a:prstGeom prst="rect">
            <a:avLst>
              <a:gd name="adj" fmla="val 5556"/>
            </a:avLst>
          </a:prstGeom>
          <a:solidFill>
            <a:srgbClr val="0B0F1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0116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3,693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2024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Honeypots Detected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rect">
            <a:avLst>
              <a:gd name="adj" fmla="val 5556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0116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96,307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4904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Survivors Scored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1828800"/>
            <a:ext cx="1645920" cy="1645920"/>
          </a:xfrm>
          <a:prstGeom prst="rect">
            <a:avLst>
              <a:gd name="adj" fmla="val 5556"/>
            </a:avLst>
          </a:prstGeom>
          <a:solidFill>
            <a:srgbClr val="0B0F1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0116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Runtime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1828800"/>
            <a:ext cx="1645920" cy="1645920"/>
          </a:xfrm>
          <a:prstGeom prst="rect">
            <a:avLst>
              <a:gd name="adj" fmla="val 5556"/>
            </a:avLst>
          </a:prstGeom>
          <a:solidFill>
            <a:srgbClr val="0B0F1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20116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207s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40664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Remaining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4048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Constraint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Actual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Runtime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≤ 300s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92.63s (3.2× margin)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Memory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≤ 16 GB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 2 GB (8× margin)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Compute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CPU only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GPU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 calls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Honeypot Rate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≤ 10%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3.69%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Output Rows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Exactly 100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1B4B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🍯 Honeypot Detection Gate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deterministic O(1) fraud predicates run before any scoring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Predicate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 Impossibility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Future dates, overlapping roles (&gt;6mo), durations &gt;40y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Framework Age Impossible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"15 years of React" — React launched 2013. Impossible.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Zero-Duration Expert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≥2 Expert skills with 0 months of usage duration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Skill Stuffing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&gt;12 expert skills, avg endorsements &lt;1, avg duration &lt;3mo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Impossible YOE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Stated YOE exceeds career duration sum by &gt;36 months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Title-Skill Mismatch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Marketing/Sales title claiming 6+ Expert AI/ML skills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5669280"/>
            <a:ext cx="8412480" cy="548640"/>
          </a:xfrm>
          <a:prstGeom prst="rect">
            <a:avLst>
              <a:gd name="adj" fmla="val 16667"/>
            </a:avLst>
          </a:prstGeom>
          <a:solidFill>
            <a:srgbClr val="1A0B0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5669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Detected: 3,693 honeypots (3.69% of 100,000)  •  Threshold: ≤10%  •  Status: ✅ Compliant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1B4B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🧮 47-Dimension Feature Scoring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Normalized feature vectors across 5 semantic clusters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 Cluster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Weight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Features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Skills &amp; JD Match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~30%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hard_skill_weight_sum, embedding_skill_count, ai_skill_density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Career &amp; Experience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yoe_in_range, product_company_ratio, avg_tenure_months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Behavioral Signals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open_to_work_flag, recruiter_response_rate, github_activity_score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Trust &amp; Verification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verified_contact, linkedin_connected, profile_completeness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Location &amp; Logistics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location_match (Bengaluru/Remote/etc), notice_ok (≤60 days)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Disqualifiers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Negative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consulting_only, pure_research_flag, domain_disqualifier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1B4B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🌲 LightGBM LambdaRank Model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Trained on 96,307 candidates × 47 features — optimizes NDCG ranking quality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LambdaRank?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Standard regression optimizes absolute scores. LambdaRank directly optimizes NDCG — the actual ranking quality metric.</a:t>
            </a:r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Configuration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Objective: lambdarank  |  NDCG evaluated at @10, @50, @100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Learning Rate: 0.1  |  Num Leaves: 31  |  Estimators: 200</a:t>
            </a:r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 (Pickle-Free)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Model saved as lgbm_ranker.txt (native text booster — zero pickle security risk).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Scaler parameters saved as scaler_config.json (no scikit-learn at inference time).</a:t>
            </a:r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 Safety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If model artifacts are missing, pipeline falls back to weighted scorer automatically — zero crashes.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1B4B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Security 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Pickle-free serialization, zero network, validated inputs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651760" cy="3200400"/>
          </a:xfrm>
          <a:prstGeom prst="rect">
            <a:avLst>
              <a:gd name="adj" fmla="val 4138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Pickle-Free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saved as native LightGBM text booster.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Loaded via lgb.Booster(model_file=…)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arbitrary code execution risk.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3200400"/>
          </a:xfrm>
          <a:prstGeom prst="rect">
            <a:avLst>
              <a:gd name="adj" fmla="val 4138"/>
            </a:avLst>
          </a:prstGeom>
          <a:solidFill>
            <a:srgbClr val="0B0F1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600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Network Policy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reads ONLY from local filesystem.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HTTP calls, no DNS lookups, no sockets.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hackathon compliance guaranteed.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51760" cy="3200400"/>
          </a:xfrm>
          <a:prstGeom prst="rect">
            <a:avLst>
              <a:gd name="adj" fmla="val 4138"/>
            </a:avLst>
          </a:prstGeom>
          <a:solidFill>
            <a:srgbClr val="0B0F1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600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28600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JSONL records validated against schema.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Malformed records are skipped, not crashed.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fields have full error handling.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1B4B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Premium Interactive Dashboard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· React 19 · TypeScript · GSAP · Lenis · Three.js — Deployed on Vercel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023360" cy="2011680"/>
          </a:xfrm>
          <a:prstGeom prst="rect">
            <a:avLst>
              <a:gd name="adj" fmla="val 4545"/>
            </a:avLst>
          </a:prstGeom>
          <a:solidFill>
            <a:srgbClr val="0B0F1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 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Drag-and-drop CSV/JSON/JSONL upload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parsing feedback &amp; error states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alignment &amp; validation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4023360" cy="2011680"/>
          </a:xfrm>
          <a:prstGeom prst="rect">
            <a:avLst>
              <a:gd name="adj" fmla="val 4545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Leaderboard FIT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0574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Ranked candidate cards with radial score rings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SVG match distribution curve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search + skill/YOE/score filters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4023360" cy="2011680"/>
          </a:xfrm>
          <a:prstGeom prst="rect">
            <a:avLst>
              <a:gd name="adj" fmla="val 4545"/>
            </a:avLst>
          </a:prstGeom>
          <a:solidFill>
            <a:srgbClr val="0B0F1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840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Radar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3434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Conic CSS radar sweep animation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Flagged candidate audit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Honeypot rule breakdown per candidate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749040"/>
            <a:ext cx="4023360" cy="2011680"/>
          </a:xfrm>
          <a:prstGeom prst="rect">
            <a:avLst>
              <a:gd name="adj" fmla="val 4545"/>
            </a:avLst>
          </a:prstGeom>
          <a:solidFill>
            <a:srgbClr val="0B0F1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840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Console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43434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CSV and XLSX download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preview 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 metadata generator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1B4B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Custom Cursor &amp; Animation Stack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GSAP physics-based cursor trailing with reactive hover states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GSAP Cursor (CustomCursor.tsx)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6px center dot — follows mouse instantly via gsap.set() (zero lag)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28px trailing ring — gsap.to() with power3.out easing (200ms smooth physics)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hover: ring expands to 48px + glows fuchsia (#d946ef) + 8px dot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mix-blend-mode: difference on center dot for premium visual contrast effect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Responsive: only active on pointer:fine devices (not touch/mobile)</a:t>
            </a:r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GSAP Tab Transitions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Tab panels animate in with opacity + scale + y transforms on every switch</a:t>
            </a:r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Lenis Smooth Scroll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Physics-normalized mouse wheel scrolling for premium inertia feel</a:t>
            </a:r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Three.js Particle Background</a:t>
            </a:r>
            <a:endParaRPr lang="en-US" sz="1600" dirty="0"/>
          </a:p>
          <a:p>
            <a:pPr lvl="1"/>
            <a:r>
              <a:rPr lang="en-US" sz="13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Reactive particle network — mouse proximity connects nearby nodes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1B4B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Pipeline Execution Flow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JSONL → Fraud Gate → Scoring → CSV in 92.63 seconds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Runtime (100k)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Load LightGBM text booster artifact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8.83s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1–3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Stream JSONL + Honeypot gate + Feature extraction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81.95s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 96,307 survivors, select Top-100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0.36s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Template reasoning for Top-100 candidates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0.10s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Write submission.csv to disk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0.01s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92.63s (207.4s budget remaining)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5212080"/>
            <a:ext cx="8412480" cy="548640"/>
          </a:xfrm>
          <a:prstGeom prst="rect">
            <a:avLst>
              <a:gd name="adj" fmla="val 16667"/>
            </a:avLst>
          </a:prstGeom>
          <a:solidFill>
            <a:srgbClr val="0A1F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5212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Optimization: Date Parsing O(1) Cache — replaced datetime.strptime() inner-loop overhead with dict-based cache (~85% speedup)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1B4B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Technology Stack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Python + React/Vite — deployed on Vercel with CI/CD via GitHub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 Backend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LightGBM 4.3+, NumPy 1.24+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LambdaRank model training &amp; ranking pipeline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 Backend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Pure stdlib (no pip at inference)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Weighted scorer fallback — zero dependencies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 Core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Vite 8 + React 19 + TypeScript 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 framework with HMR and production builds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Animations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GSAP 3.15 + CSS keyframes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 transitions, cursor physics, staggered cards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Scroll Physics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Lenis 1.3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Inertia-based smooth scrolling normalization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3D Graphics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Three.js + @react-three/fiber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Interactive particle network background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Export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PapaParse + XLSX + PptxGenJS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CSV/JSONL parsing, Excel/PPTX generation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 + GitHub (main branch)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Auto-deploy on push — 13 second build time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B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1B4B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 Project 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3-folder monorepo: frontend/ · backend/ · dataset/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651760" cy="4754880"/>
          </a:xfrm>
          <a:prstGeom prst="rect">
            <a:avLst>
              <a:gd name="adj" fmla="val 3448"/>
            </a:avLst>
          </a:prstGeom>
          <a:solidFill>
            <a:srgbClr val="0B0F1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candidates.jsonl (487 MB)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sample_candidates.json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features.npz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labels.json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526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job_description.docx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*.txt specifications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463040"/>
            <a:ext cx="2651760" cy="4754880"/>
          </a:xfrm>
          <a:prstGeom prst="rect">
            <a:avLst>
              <a:gd name="adj" fmla="val 3448"/>
            </a:avLst>
          </a:prstGeom>
          <a:solidFill>
            <a:srgbClr val="0B0F1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ranker/ranker.py ← ENTRYPOINT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ranker/honeypot_filter.py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ranker/scorer.py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931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offline_lab/model_trainer.py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4526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artifacts/lgbm_ranker.txt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validate_submission.py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463040"/>
            <a:ext cx="2651760" cy="4754880"/>
          </a:xfrm>
          <a:prstGeom prst="rect">
            <a:avLst>
              <a:gd name="adj" fmla="val 3448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72200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css/index.css (design system)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js/App.tsx + main.tsx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js/components/*.tsx (8 files)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931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js/lib/scorer.ts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526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public/sample_candidates.json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package.json + vite.config.ts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030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1B4B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Business Impact &amp; Roadmap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Enterprise-ready candidate intelligence — shipped and live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023360" cy="1828800"/>
          </a:xfrm>
          <a:prstGeom prst="rect">
            <a:avLst>
              <a:gd name="adj" fmla="val 5000"/>
            </a:avLst>
          </a:prstGeom>
          <a:solidFill>
            <a:srgbClr val="0B0F1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Zero Fraud Ingestion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Filters all honeypot/fake profiles before scoring — clean candidate pools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4023360" cy="1828800"/>
          </a:xfrm>
          <a:prstGeom prst="rect">
            <a:avLst>
              <a:gd name="adj" fmla="val 5000"/>
            </a:avLst>
          </a:prstGeom>
          <a:solidFill>
            <a:srgbClr val="0B0F1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544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Ultra-Fast Screening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100,000 candidates ranked in 92.6 seconds on CPU — 3.2× under budget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4023360" cy="1828800"/>
          </a:xfrm>
          <a:prstGeom prst="rect">
            <a:avLst>
              <a:gd name="adj" fmla="val 5000"/>
            </a:avLst>
          </a:prstGeom>
          <a:solidFill>
            <a:srgbClr val="0B0F1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576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Explainable Rankings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candidate receives human-readable AI reasoning — zero black-box decisions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566160"/>
            <a:ext cx="4023360" cy="1828800"/>
          </a:xfrm>
          <a:prstGeom prst="rect">
            <a:avLst>
              <a:gd name="adj" fmla="val 5000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6576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Live on Vercel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4297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at recruitiq-engine.vercel.app — GitHub-connected CI/CD pipeline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github.com/bhavsarhem/RecruitIQ_Engine  •  recruitiq-engine.vercel.app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2026-06-21T14:11:58Z</dcterms:created>
  <dcterms:modified xsi:type="dcterms:W3CDTF">2026-06-21T14:11:58Z</dcterms:modified>
</cp:coreProperties>
</file>